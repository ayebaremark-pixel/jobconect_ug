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61" r:id="rId6"/>
    <p:sldId id="260" r:id="rId7"/>
    <p:sldId id="264" r:id="rId8"/>
    <p:sldId id="263" r:id="rId9"/>
    <p:sldId id="259"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2" autoAdjust="0"/>
    <p:restoredTop sz="94660"/>
  </p:normalViewPr>
  <p:slideViewPr>
    <p:cSldViewPr snapToGrid="0">
      <p:cViewPr varScale="1">
        <p:scale>
          <a:sx n="65" d="100"/>
          <a:sy n="65" d="100"/>
        </p:scale>
        <p:origin x="90"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90A1649-002A-4D25-A938-F980B92D4261}"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3239581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0A1649-002A-4D25-A938-F980B92D4261}"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104605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90A1649-002A-4D25-A938-F980B92D4261}"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3661285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90A1649-002A-4D25-A938-F980B92D4261}"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620974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90A1649-002A-4D25-A938-F980B92D4261}" type="datetimeFigureOut">
              <a:rPr lang="en-US" smtClean="0"/>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3094613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90A1649-002A-4D25-A938-F980B92D4261}" type="datetimeFigureOut">
              <a:rPr lang="en-US" smtClean="0"/>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3431685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0A1649-002A-4D25-A938-F980B92D4261}" type="datetimeFigureOut">
              <a:rPr lang="en-US" smtClean="0"/>
              <a:t>7/7/2025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2724567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90A1649-002A-4D25-A938-F980B92D4261}"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3433163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90A1649-002A-4D25-A938-F980B92D4261}"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1324419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0A1649-002A-4D25-A938-F980B92D4261}"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1718398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0A1649-002A-4D25-A938-F980B92D4261}"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8FA901-7422-4000-BBD9-58B5B841D285}" type="slidenum">
              <a:rPr lang="en-US" smtClean="0"/>
              <a:t>‹#›</a:t>
            </a:fld>
            <a:endParaRPr lang="en-US"/>
          </a:p>
        </p:txBody>
      </p:sp>
    </p:spTree>
    <p:extLst>
      <p:ext uri="{BB962C8B-B14F-4D97-AF65-F5344CB8AC3E}">
        <p14:creationId xmlns:p14="http://schemas.microsoft.com/office/powerpoint/2010/main" val="1994989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0A1649-002A-4D25-A938-F980B92D4261}" type="datetimeFigureOut">
              <a:rPr lang="en-US" smtClean="0"/>
              <a:t>7/7/2025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8FA901-7422-4000-BBD9-58B5B841D285}" type="slidenum">
              <a:rPr lang="en-US" smtClean="0"/>
              <a:t>‹#›</a:t>
            </a:fld>
            <a:endParaRPr lang="en-US"/>
          </a:p>
        </p:txBody>
      </p:sp>
    </p:spTree>
    <p:extLst>
      <p:ext uri="{BB962C8B-B14F-4D97-AF65-F5344CB8AC3E}">
        <p14:creationId xmlns:p14="http://schemas.microsoft.com/office/powerpoint/2010/main" val="1199415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19838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INTRODUCTION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57324"/>
            <a:ext cx="10515600" cy="5184775"/>
          </a:xfrm>
        </p:spPr>
        <p:txBody>
          <a:bodyPr>
            <a:noAutofit/>
          </a:bodyPr>
          <a:lstStyle/>
          <a:p>
            <a:pPr marL="0" indent="0" algn="just">
              <a:lnSpc>
                <a:spcPct val="150000"/>
              </a:lnSpc>
              <a:buNone/>
            </a:pPr>
            <a:endParaRPr lang="en-US" sz="1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200" dirty="0">
                <a:latin typeface="Times New Roman" panose="02020603050405020304" pitchFamily="18" charset="0"/>
                <a:cs typeface="Times New Roman" panose="02020603050405020304" pitchFamily="18" charset="0"/>
              </a:rPr>
              <a:t>The rapid evolution of digital technology has fundamentally transformed the way people search for jobs and how employers identify suitable candidates. Traditional methods of job searching, such as newspaper advertisements, physical job fairs, and word-of-mouth referrals, are becoming increasingly obsolete due to their inefficiency, limited reach, and inability to adapt to modern user needs (Smith &amp; Anderson, 2020; Kumar et al., 2023). For instance, newspapers often have outdated listings by the time they reach readers, while physical job fairs require significant time and resources from both job seekers and employers, making them impractical for large-scale recruitment efforts</a:t>
            </a:r>
          </a:p>
          <a:p>
            <a:pPr marL="0" indent="0" algn="just">
              <a:lnSpc>
                <a:spcPct val="150000"/>
              </a:lnSpc>
              <a:buNone/>
            </a:pPr>
            <a:r>
              <a:rPr lang="en-US" sz="1200" dirty="0">
                <a:latin typeface="Times New Roman" panose="02020603050405020304" pitchFamily="18" charset="0"/>
                <a:cs typeface="Times New Roman" panose="02020603050405020304" pitchFamily="18" charset="0"/>
              </a:rPr>
              <a:t>In contrast, online platforms have emerged as a cornerstone of the modern recruitment process, offering centralized solutions that connect job seekers and employers seamlessly. These systems leverage advanced technologies such as machine learning algorithms for personalized job recommendations, cloud-based databases for storing job listings, and secure communication channels for facilitating interactions between stakeholders (International Telecommunication Union [ITU], 2022). For example, platforms like LinkedIn use sophisticated algorithms to match job seekers with relevant opportunities based on their skills, experience, and preferences. Similarly, tools like Applicant Tracking Systems (ATS) enable employers to efficiently manage large volumes of applications, reducing the time required to identify qualified candidates.</a:t>
            </a:r>
          </a:p>
          <a:p>
            <a:pPr marL="0" indent="0" algn="just">
              <a:lnSpc>
                <a:spcPct val="150000"/>
              </a:lnSpc>
              <a:buNone/>
            </a:pPr>
            <a:r>
              <a:rPr lang="en-US" sz="1200" dirty="0">
                <a:latin typeface="Times New Roman" panose="02020603050405020304" pitchFamily="18" charset="0"/>
                <a:cs typeface="Times New Roman" panose="02020603050405020304" pitchFamily="18" charset="0"/>
              </a:rPr>
              <a:t>Despite these advancements, many existing job portals fail to address the unique challenges faced by users in developing regions like Uganda. For instance, job seekers in rural areas often encounter barriers such as limited internet access and low digital literacy, which hinder their ability to utilize online platforms effectively (World Bank, 2021). Consider a young graduate in a rural Ugandan village who may not have reliable internet access or the technical know-how to navigate complex job portals. Such individuals are effectively excluded from accessing employment opportunities that could transform their lives.</a:t>
            </a:r>
          </a:p>
          <a:p>
            <a:pPr marL="0" indent="0" algn="just">
              <a:lnSpc>
                <a:spcPct val="150000"/>
              </a:lnSpc>
              <a:buNone/>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9032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701893"/>
            <a:ext cx="10668000" cy="4768100"/>
          </a:xfrm>
          <a:prstGeom prst="rect">
            <a:avLst/>
          </a:prstGeom>
        </p:spPr>
        <p:txBody>
          <a:bodyPr wrap="square">
            <a:spAutoFit/>
          </a:bodyPr>
          <a:lstStyle/>
          <a:p>
            <a:pPr algn="just">
              <a:lnSpc>
                <a:spcPct val="150000"/>
              </a:lnSpc>
            </a:pPr>
            <a:r>
              <a:rPr lang="en-US" sz="1200" dirty="0" smtClean="0">
                <a:latin typeface="Times New Roman" panose="02020603050405020304" pitchFamily="18" charset="0"/>
                <a:cs typeface="Times New Roman" panose="02020603050405020304" pitchFamily="18" charset="0"/>
              </a:rPr>
              <a:t>Similarly, small and medium-sized enterprises (SMEs) in Uganda face significant hurdles in scaling their operations due to difficulties in recruiting skilled workers. For example, a local agribusiness owner looking to hire a qualified agronomist may struggle to reach candidates outside their immediate community, limiting their ability to grow their business (Kumar et al., 2023). These issues highlight the need for a more inclusive and user-centric solution that caters to the specific needs of Ugandan job seekers and employers.</a:t>
            </a:r>
          </a:p>
          <a:p>
            <a:pPr algn="just">
              <a:lnSpc>
                <a:spcPct val="150000"/>
              </a:lnSpc>
            </a:pPr>
            <a:r>
              <a:rPr lang="en-US" sz="1200" dirty="0" smtClean="0">
                <a:latin typeface="Times New Roman" panose="02020603050405020304" pitchFamily="18" charset="0"/>
                <a:cs typeface="Times New Roman" panose="02020603050405020304" pitchFamily="18" charset="0"/>
              </a:rPr>
              <a:t>This final-year project aims to develop an online job portal website application that addresses these challenges by providing a comprehensive platform where employers can post job openings and job seekers can apply directly. The proposed system will incorporate features such as personalized job recommendations, advanced search filters, secure communication channels, and an applicant tracking system (ATS). For example, job seekers will be able to filter job listings by location, salary range, and experience level, ensuring they find opportunities that align with their preferences. Employers, on the other hand, will benefit from tools that allow them to track applications, schedule interviews, and communicate securely with candidates through in-app messaging.</a:t>
            </a:r>
          </a:p>
          <a:p>
            <a:pPr algn="just">
              <a:lnSpc>
                <a:spcPct val="150000"/>
              </a:lnSpc>
            </a:pPr>
            <a:r>
              <a:rPr lang="en-US" sz="1200" dirty="0" smtClean="0">
                <a:latin typeface="Times New Roman" panose="02020603050405020304" pitchFamily="18" charset="0"/>
                <a:cs typeface="Times New Roman" panose="02020603050405020304" pitchFamily="18" charset="0"/>
              </a:rPr>
              <a:t>By leveraging modern technologies and user-centric design principles, the platform seeks to revolutionize the recruitment ecosystem in Uganda, aligning with global trends in digital transformation and human resource management (HRM) practices (Kumar et al., 2023). For instance, the inclusion of offline features will ensure that users in rural areas with limited internet access can still view job listings and submit applications when connectivity is restored. Additionally, partnerships with community centers and educational institutions will provide training and support to users with low digital literacy.</a:t>
            </a:r>
          </a:p>
          <a:p>
            <a:pPr algn="just">
              <a:lnSpc>
                <a:spcPct val="150000"/>
              </a:lnSpc>
            </a:pPr>
            <a:r>
              <a:rPr lang="en-US" sz="1200" dirty="0" smtClean="0">
                <a:latin typeface="Times New Roman" panose="02020603050405020304" pitchFamily="18" charset="0"/>
                <a:cs typeface="Times New Roman" panose="02020603050405020304" pitchFamily="18" charset="0"/>
              </a:rPr>
              <a:t>Furthermore, this initiative supports the United Nations Sustainable Development Goal (SDG) 8, which focuses on promoting decent work and economic growth (United Nations, 2023). By improving access to employment opportunities and enhancing the efficiency of recruitment processes, the online job portal has the potential to contribute significantly to reducing unemployment and fostering economic development in Uganda. For example, a platform that connects unemployed youth with SMEs in need of skilled labor could help address the country's high youth unemployment rate, estimated at 13.3% by the Uganda Bureau of Statistics (2022).</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8318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055100" cy="1095375"/>
          </a:xfrm>
        </p:spPr>
        <p:txBody>
          <a:bodyPr/>
          <a:lstStyle/>
          <a:p>
            <a:r>
              <a:rPr lang="en-US" b="1" dirty="0" smtClean="0">
                <a:latin typeface="Times New Roman" panose="02020603050405020304" pitchFamily="18" charset="0"/>
                <a:cs typeface="Times New Roman" panose="02020603050405020304" pitchFamily="18" charset="0"/>
              </a:rPr>
              <a:t>BACKGROUND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85924"/>
            <a:ext cx="10515600" cy="4892676"/>
          </a:xfrm>
        </p:spPr>
        <p:txBody>
          <a:bodyPr>
            <a:noAutofit/>
          </a:bodyPr>
          <a:lstStyle/>
          <a:p>
            <a:pPr marL="0" indent="0" algn="just">
              <a:lnSpc>
                <a:spcPct val="150000"/>
              </a:lnSpc>
              <a:buNone/>
            </a:pPr>
            <a:r>
              <a:rPr lang="en-US" sz="1200" dirty="0">
                <a:latin typeface="Times New Roman" panose="02020603050405020304" pitchFamily="18" charset="0"/>
                <a:cs typeface="Times New Roman" panose="02020603050405020304" pitchFamily="18" charset="0"/>
              </a:rPr>
              <a:t>The global transition towards digital platforms has fundamentally transformed the way individuals search for employment and how employers recruit talent. Traditional methods of job searching, such as newspaper advertisements, in-person job fairs, and word-of-mouth referrals, are increasingly becoming outdated due to their inefficiency, limited reach, and inability to meet contemporary user demands (Smith &amp; Anderson, 2020; Kumar et al., 2023). These conventional strategies often result in disjointed platforms where job seekers struggle to find relevant opportunities, while employers face challenges in efficiently identifying qualified candidates (Uganda Bureau of Statistics, 2022).</a:t>
            </a:r>
          </a:p>
          <a:p>
            <a:pPr marL="0" indent="0" algn="just">
              <a:lnSpc>
                <a:spcPct val="150000"/>
              </a:lnSpc>
              <a:buNone/>
            </a:pPr>
            <a:r>
              <a:rPr lang="en-US" sz="1200" dirty="0">
                <a:latin typeface="Times New Roman" panose="02020603050405020304" pitchFamily="18" charset="0"/>
                <a:cs typeface="Times New Roman" panose="02020603050405020304" pitchFamily="18" charset="0"/>
              </a:rPr>
              <a:t>Conversely, online job portals have become a fundamental component of modern recruitment processes, providing centralized solutions that effortlessly connect job seekers and employers. These platforms utilize advanced technologies such as machine learning algorithms for personalized job recommendations, cloud-based databases for storing job listings, and secure communication channels to facilitate interactions between stakeholders (International Telecommunication Union [ITU], 2022). For example, platforms like LinkedIn employ sophisticated algorithms to align job seekers with appropriate opportunities based on their skills, experience, and preferences (Smith &amp; Anderson, 2020). Similarly, tools such as Applicant Tracking Systems (ATS) allow employers to efficiently manage large volumes of applications, thereby reducing the time needed to identify suitable candidates (Johnson &amp; Williams, 2021).</a:t>
            </a:r>
          </a:p>
          <a:p>
            <a:pPr marL="0" indent="0" algn="just">
              <a:lnSpc>
                <a:spcPct val="150000"/>
              </a:lnSpc>
              <a:buNone/>
            </a:pPr>
            <a:r>
              <a:rPr lang="en-US" sz="1200" dirty="0">
                <a:latin typeface="Times New Roman" panose="02020603050405020304" pitchFamily="18" charset="0"/>
                <a:cs typeface="Times New Roman" panose="02020603050405020304" pitchFamily="18" charset="0"/>
              </a:rPr>
              <a:t>Despite these innovations, many existing job portals do not adequately address the distinct challenges faced by users in developing regions such as Uganda. Job seekers in rural areas often experience obstacles such as limited internet access and low digital literacy, which impede their ability to effectively utilize online platforms (World Bank, 2021). According to the Uganda Bureau of Statistics (2022), high youth unemployment rates and inefficient recruitment processes further aggravate the situation, leaving many individuals unable to transition from education to employment. Small and medium-sized enterprises (SMEs) in Uganda also encounter considerable challenges in expanding their operations due to difficulties in recruiting skilled workers (Kumar et al., 2023</a:t>
            </a:r>
            <a:r>
              <a:rPr lang="en-US" sz="1200" dirty="0" smtClean="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7840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719247"/>
            <a:ext cx="10795000" cy="2829108"/>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This final-year project aims to develop an online job portal web application specifically designed to address these challenges by offering a comprehensive platform where employers can post job opportunities and job seekers can apply directly. The proposed system will incorporate features such as personalized job recommendations, advanced search filters, secure communication channels, and an applicant tracking system (ATS). By leveraging modern technologies and user-focused design principles, the platform aspires to revolutionize the recruitment landscape in Uganda, aligning with global trends in digital transformation and human resource management (HRM) practices (Kumar et al., 2023).</a:t>
            </a:r>
          </a:p>
          <a:p>
            <a:pPr algn="just">
              <a:lnSpc>
                <a:spcPct val="150000"/>
              </a:lnSpc>
            </a:pPr>
            <a:r>
              <a:rPr lang="en-US" sz="1200" dirty="0">
                <a:latin typeface="Times New Roman" panose="02020603050405020304" pitchFamily="18" charset="0"/>
                <a:cs typeface="Times New Roman" panose="02020603050405020304" pitchFamily="18" charset="0"/>
              </a:rPr>
              <a:t>Additionally, this initiative aligns with the United Nations Sustainable Development Goal (SDG) 8, which emphasizes promoting decent work and economic growth (United Nations, 2023). By enhancing access to employment opportunities and improving the efficiency of recruitment processes, the online job portal holds the potential to significantly contribute to reducing unemployment and fostering economic development in Uganda. For instance, a platform that connects unemployed youth with SMEs in need of skilled labor could help address the country's high youth unemployment rate, reported at 13.3% by the Uganda Bureau of Statistics (2022).</a:t>
            </a:r>
          </a:p>
          <a:p>
            <a:pPr>
              <a:lnSpc>
                <a:spcPct val="150000"/>
              </a:lnSpc>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4467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2675"/>
          </a:xfrm>
        </p:spPr>
        <p:txBody>
          <a:bodyPr/>
          <a:lstStyle/>
          <a:p>
            <a:r>
              <a:rPr lang="en-US" b="1" dirty="0" smtClean="0">
                <a:latin typeface="Times New Roman" panose="02020603050405020304" pitchFamily="18" charset="0"/>
                <a:cs typeface="Times New Roman" panose="02020603050405020304" pitchFamily="18" charset="0"/>
              </a:rPr>
              <a:t>SIGNIFICANCE OF THE STUDY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25601"/>
            <a:ext cx="10515600" cy="5232399"/>
          </a:xfrm>
        </p:spPr>
        <p:txBody>
          <a:bodyPr>
            <a:noAutofit/>
          </a:bodyPr>
          <a:lstStyle/>
          <a:p>
            <a:pPr marL="0" indent="0" algn="just">
              <a:lnSpc>
                <a:spcPct val="150000"/>
              </a:lnSpc>
              <a:buNone/>
            </a:pPr>
            <a:r>
              <a:rPr lang="en-US" sz="1200" dirty="0" smtClean="0">
                <a:latin typeface="Times New Roman" panose="02020603050405020304" pitchFamily="18" charset="0"/>
                <a:cs typeface="Times New Roman" panose="02020603050405020304" pitchFamily="18" charset="0"/>
              </a:rPr>
              <a:t>The </a:t>
            </a:r>
            <a:r>
              <a:rPr lang="en-US" sz="1200" dirty="0">
                <a:latin typeface="Times New Roman" panose="02020603050405020304" pitchFamily="18" charset="0"/>
                <a:cs typeface="Times New Roman" panose="02020603050405020304" pitchFamily="18" charset="0"/>
              </a:rPr>
              <a:t>significance of this research resides in its capacity to address critical challenges in Uganda’s labor market while contributing to wider academic, technological, and socio-economic advancements. By providing a scalable, secure, and user-friendly platform, the online job portal empowers job seekers, supports employers, and fosters inclusive </a:t>
            </a:r>
            <a:r>
              <a:rPr lang="en-US" sz="1200" dirty="0" smtClean="0">
                <a:latin typeface="Times New Roman" panose="02020603050405020304" pitchFamily="18" charset="0"/>
                <a:cs typeface="Times New Roman" panose="02020603050405020304" pitchFamily="18" charset="0"/>
              </a:rPr>
              <a:t>growth.</a:t>
            </a:r>
          </a:p>
          <a:p>
            <a:pPr marL="0" lvl="0" indent="0" algn="just">
              <a:lnSpc>
                <a:spcPct val="150000"/>
              </a:lnSpc>
              <a:buNone/>
            </a:pPr>
            <a:r>
              <a:rPr lang="en-US" sz="1200" b="1" dirty="0">
                <a:latin typeface="Times New Roman" panose="02020603050405020304" pitchFamily="18" charset="0"/>
                <a:cs typeface="Times New Roman" panose="02020603050405020304" pitchFamily="18" charset="0"/>
              </a:rPr>
              <a:t>For Job Seekers</a:t>
            </a:r>
            <a:r>
              <a:rPr lang="en-US" sz="1200" b="1" dirty="0" smtClean="0">
                <a:latin typeface="Times New Roman" panose="02020603050405020304" pitchFamily="18" charset="0"/>
                <a:cs typeface="Times New Roman" panose="02020603050405020304" pitchFamily="18" charset="0"/>
              </a:rPr>
              <a:t>:</a:t>
            </a:r>
            <a:endParaRPr lang="en-US" sz="1200" dirty="0" smtClean="0">
              <a:latin typeface="Times New Roman" panose="02020603050405020304" pitchFamily="18" charset="0"/>
              <a:cs typeface="Times New Roman" panose="02020603050405020304" pitchFamily="18" charset="0"/>
            </a:endParaRPr>
          </a:p>
          <a:p>
            <a:pPr algn="just">
              <a:lnSpc>
                <a:spcPct val="170000"/>
              </a:lnSpc>
            </a:pPr>
            <a:r>
              <a:rPr lang="en-US" sz="1200" dirty="0">
                <a:latin typeface="Times New Roman" panose="02020603050405020304" pitchFamily="18" charset="0"/>
                <a:cs typeface="Times New Roman" panose="02020603050405020304" pitchFamily="18" charset="0"/>
              </a:rPr>
              <a:t>Enhancing Accessibility and Convenience</a:t>
            </a:r>
            <a:r>
              <a:rPr lang="en-US" sz="1200" b="1"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The online job portal will serve as a transformative tool for job seekers, particularly those in underserved regions of Uganda. One of the primary challenges faced by job seekers is the difficulty of finding relevant job openings due to fragmented platforms and lack of personalized recommendations (Smith &amp; Anderson, 2020). The proposed platform addresses this issue by providing a centralized hub where users can easily search for jobs using advanced filters such as location, salary range, and experience level. Additionally, the inclusion of personalized job recommendations powered by machine learning algorithms ensures that job seekers are matched with opportunities that align with their qualifications and preferences. This not only enhances user experience but also increases the likelihood of securing employment.</a:t>
            </a:r>
          </a:p>
          <a:p>
            <a:pPr algn="just">
              <a:lnSpc>
                <a:spcPct val="170000"/>
              </a:lnSpc>
            </a:pPr>
            <a:r>
              <a:rPr lang="en-US" sz="1200" dirty="0">
                <a:latin typeface="Times New Roman" panose="02020603050405020304" pitchFamily="18" charset="0"/>
                <a:cs typeface="Times New Roman" panose="02020603050405020304" pitchFamily="18" charset="0"/>
              </a:rPr>
              <a:t>Another significant benefit for job seekers is the streamlined application process. Traditional methods often require repetitive submissions of resumes and cover letters, which can be time-consuming and frustrating. The portal simplifies this process by allowing users to upload their resumes once and apply to multiple jobs with a single click. Furthermore, offline functionality ensures that individuals in rural areas with limited internet access can still view job listings and submit applications when connectivity is restored. This inclusivity is crucial, as it bridges the digital divide and empowers marginalized groups to participate in the labor market (World Bank, 2021).</a:t>
            </a:r>
          </a:p>
          <a:p>
            <a:pPr marL="0" indent="0" algn="just">
              <a:lnSpc>
                <a:spcPct val="150000"/>
              </a:lnSpc>
              <a:buNone/>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0789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1700" y="355600"/>
            <a:ext cx="10515600" cy="6286500"/>
          </a:xfrm>
        </p:spPr>
        <p:txBody>
          <a:bodyPr>
            <a:noAutofit/>
          </a:bodyPr>
          <a:lstStyle/>
          <a:p>
            <a:pPr marL="0" lvl="0" indent="0" algn="just">
              <a:lnSpc>
                <a:spcPct val="150000"/>
              </a:lnSpc>
              <a:buNone/>
            </a:pPr>
            <a:r>
              <a:rPr lang="en-US" sz="1200" b="1" dirty="0">
                <a:latin typeface="Times New Roman" panose="02020603050405020304" pitchFamily="18" charset="0"/>
                <a:cs typeface="Times New Roman" panose="02020603050405020304" pitchFamily="18" charset="0"/>
              </a:rPr>
              <a:t>For Employers:</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Facilitating Effective Recruitment Processes. Employers in Uganda face significant challenges when trying to efficiently connect with qualified candidates, particularly small and medium-sized enterprises (SMEs) that lack the resources to implement advanced recruitment strategies (Kumar et al., 2023). The online job portal addresses these issues by offering tools that simplify the hiring process. Employers can post detailed job advertisements with customizable options such as job title, description, salary range, and specific requirements, ensuring they attract candidates who meet their exact needs. This reduces the time and effort spent on screening unqualified applicants.</a:t>
            </a:r>
          </a:p>
          <a:p>
            <a:pPr algn="just">
              <a:lnSpc>
                <a:spcPct val="150000"/>
              </a:lnSpc>
            </a:pPr>
            <a:r>
              <a:rPr lang="en-US" sz="1200" dirty="0">
                <a:latin typeface="Times New Roman" panose="02020603050405020304" pitchFamily="18" charset="0"/>
                <a:cs typeface="Times New Roman" panose="02020603050405020304" pitchFamily="18" charset="0"/>
              </a:rPr>
              <a:t>Additionally, the inclusion of an Applicant Tracking System (ATS) enables employers to review, shortlist, and manage applications seamlessly. Features such as resume parsing and automated email notifications for interview scheduling further enhance efficiency, allowing businesses to focus on core operations rather than administrative tasks. Secure communication channels within the portal facilitate direct interaction between employers and job seekers, minimizing delays and miscommunication. These functionalities collectively contribute to improved recruitment outcomes, enabling businesses to scale their operations and address skill gaps effectively.</a:t>
            </a:r>
          </a:p>
          <a:p>
            <a:pPr marL="0" lvl="0" indent="0" algn="just">
              <a:lnSpc>
                <a:spcPct val="150000"/>
              </a:lnSpc>
              <a:buNone/>
            </a:pPr>
            <a:r>
              <a:rPr lang="en-US" sz="1200" b="1" dirty="0">
                <a:latin typeface="Times New Roman" panose="02020603050405020304" pitchFamily="18" charset="0"/>
                <a:cs typeface="Times New Roman" panose="02020603050405020304" pitchFamily="18" charset="0"/>
              </a:rPr>
              <a:t>For Software Developers:</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From a technical perspective, the development of the online job portal serves as a significant case study for advancing knowledge in software engineering, human-computer interaction (HCI), and technology adoption in developing contexts. The project promotes hands-on experience in modern technologies such as PHP with the </a:t>
            </a:r>
            <a:r>
              <a:rPr lang="en-US" sz="1200" dirty="0" err="1">
                <a:latin typeface="Times New Roman" panose="02020603050405020304" pitchFamily="18" charset="0"/>
                <a:cs typeface="Times New Roman" panose="02020603050405020304" pitchFamily="18" charset="0"/>
              </a:rPr>
              <a:t>Laravel</a:t>
            </a:r>
            <a:r>
              <a:rPr lang="en-US" sz="1200" dirty="0">
                <a:latin typeface="Times New Roman" panose="02020603050405020304" pitchFamily="18" charset="0"/>
                <a:cs typeface="Times New Roman" panose="02020603050405020304" pitchFamily="18" charset="0"/>
              </a:rPr>
              <a:t> framework for backend processes, PHP for frontend interface design, and MySQL for database management. This practical engagement enhances the technical skills of developers involved in the implementation, preparing them for careers in web and software development. Academically, the research contributes to the body of knowledge on digital solutions for labor market challenges in developing countries. By addressing issues such as unemployment, inefficient recruitment processes, and limited access to opportunities in rural areas, the research highlights the potential of technology to drive socio-economic development. The findings align with existing literature on the role of digital platforms in reducing information asymmetry between job seekers and employers (International Telecommunication Union [ITU], 2022). This contribution is particularly relevant for sub-Saharan Africa, where digital tools are increasingly being leveraged to address systemic inefficiencies.</a:t>
            </a:r>
          </a:p>
          <a:p>
            <a:pPr algn="just">
              <a:lnSpc>
                <a:spcPct val="150000"/>
              </a:lnSpc>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56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RESEARCH QUESTIONS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342900" lvl="0" indent="-342900" algn="just">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What Are the Essential Features and Design Considerations for an Online Job Portal That Effectively Addresses the Needs of Job Seekers and Employers in Uganda? </a:t>
            </a:r>
          </a:p>
          <a:p>
            <a:pPr marL="342900" lvl="0" indent="-342900" algn="just">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How Does the Implementation of an Online Job Portal Impact the Efficiency of Recruitment Processes and Job Placement Rates in the Ugandan Labor Market?</a:t>
            </a:r>
          </a:p>
          <a:p>
            <a:pPr marL="342900" lvl="0" indent="-342900" algn="just">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What Is the Level of Usability and User Satisfaction Experienced by Job Seekers and Employers Interacting with the Developed Online Job Portal? </a:t>
            </a:r>
          </a:p>
          <a:p>
            <a:pPr marL="342900" lvl="0" indent="-342900" algn="just">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What Are the Key Challenges and Opportunities Influencing the Successful Adoption and Long-Term Sustainability of Online Job Portals in Uganda? </a:t>
            </a:r>
          </a:p>
          <a:p>
            <a:pPr marL="342900" indent="-342900" algn="just">
              <a:lnSpc>
                <a:spcPct val="150000"/>
              </a:lnSpc>
              <a:buFont typeface="+mj-lt"/>
              <a:buAutoNum type="arabicPeriod"/>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512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LITERATURE REVIEW</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r>
              <a:rPr lang="en-US" b="1" dirty="0"/>
              <a:t>Research Design</a:t>
            </a:r>
          </a:p>
          <a:p>
            <a:pPr marL="0" indent="0" algn="just">
              <a:lnSpc>
                <a:spcPct val="150000"/>
              </a:lnSpc>
              <a:buNone/>
            </a:pPr>
            <a:r>
              <a:rPr lang="en-US" sz="2100" dirty="0">
                <a:latin typeface="Times New Roman" panose="02020603050405020304" pitchFamily="18" charset="0"/>
                <a:cs typeface="Times New Roman" panose="02020603050405020304" pitchFamily="18" charset="0"/>
              </a:rPr>
              <a:t>For my final year project, </a:t>
            </a:r>
            <a:r>
              <a:rPr lang="en-US" sz="2100" dirty="0" smtClean="0">
                <a:latin typeface="Times New Roman" panose="02020603050405020304" pitchFamily="18" charset="0"/>
                <a:cs typeface="Times New Roman" panose="02020603050405020304" pitchFamily="18" charset="0"/>
              </a:rPr>
              <a:t>a </a:t>
            </a:r>
            <a:r>
              <a:rPr lang="en-US" sz="2100" dirty="0">
                <a:latin typeface="Times New Roman" panose="02020603050405020304" pitchFamily="18" charset="0"/>
                <a:cs typeface="Times New Roman" panose="02020603050405020304" pitchFamily="18" charset="0"/>
              </a:rPr>
              <a:t>design and development research approach (DDR) </a:t>
            </a:r>
            <a:r>
              <a:rPr lang="en-US" sz="2100" dirty="0" smtClean="0">
                <a:latin typeface="Times New Roman" panose="02020603050405020304" pitchFamily="18" charset="0"/>
                <a:cs typeface="Times New Roman" panose="02020603050405020304" pitchFamily="18" charset="0"/>
              </a:rPr>
              <a:t>was selected because as my primary </a:t>
            </a:r>
            <a:r>
              <a:rPr lang="en-US" sz="2100" dirty="0">
                <a:latin typeface="Times New Roman" panose="02020603050405020304" pitchFamily="18" charset="0"/>
                <a:cs typeface="Times New Roman" panose="02020603050405020304" pitchFamily="18" charset="0"/>
              </a:rPr>
              <a:t>goal was to create a functional, working online job </a:t>
            </a:r>
            <a:r>
              <a:rPr lang="en-US" sz="2100" dirty="0" err="1" smtClean="0">
                <a:latin typeface="Times New Roman" panose="02020603050405020304" pitchFamily="18" charset="0"/>
                <a:cs typeface="Times New Roman" panose="02020603050405020304" pitchFamily="18" charset="0"/>
              </a:rPr>
              <a:t>portal.This</a:t>
            </a:r>
            <a:r>
              <a:rPr lang="en-US" sz="2100" dirty="0" smtClean="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method allowed me to concentrate on both the creation and evaluation of the portal, ensuring the outcome was not only operational but also relevant and beneficial to its intended users.</a:t>
            </a:r>
          </a:p>
          <a:p>
            <a:pPr marL="0" indent="0" algn="just">
              <a:lnSpc>
                <a:spcPct val="150000"/>
              </a:lnSpc>
              <a:buNone/>
            </a:pPr>
            <a:r>
              <a:rPr lang="en-US" sz="2100" dirty="0">
                <a:latin typeface="Times New Roman" panose="02020603050405020304" pitchFamily="18" charset="0"/>
                <a:cs typeface="Times New Roman" panose="02020603050405020304" pitchFamily="18" charset="0"/>
              </a:rPr>
              <a:t>The DDR methodology guided me through the entire project lifecycle from conducting needs assessments and gathering requirements, through design and prototyping, to development, testing, and evaluation</a:t>
            </a:r>
          </a:p>
          <a:p>
            <a:pPr marL="0" indent="0" algn="just">
              <a:lnSpc>
                <a:spcPct val="150000"/>
              </a:lnSpc>
              <a:buNone/>
            </a:pPr>
            <a:r>
              <a:rPr lang="en-US" sz="2100" dirty="0">
                <a:latin typeface="Times New Roman" panose="02020603050405020304" pitchFamily="18" charset="0"/>
                <a:cs typeface="Times New Roman" panose="02020603050405020304" pitchFamily="18" charset="0"/>
              </a:rPr>
              <a:t>By adopting this research design, I ensured that my work was grounded in actual user needs and that every stage from planning to deployment was informed by evidence and evaluation. This approach made the project more impactful and ensured that the final product was both user-focused and effective in addressing the problems it aimed to solve.</a:t>
            </a:r>
          </a:p>
          <a:p>
            <a:endParaRPr lang="en-US" dirty="0"/>
          </a:p>
        </p:txBody>
      </p:sp>
    </p:spTree>
    <p:extLst>
      <p:ext uri="{BB962C8B-B14F-4D97-AF65-F5344CB8AC3E}">
        <p14:creationId xmlns:p14="http://schemas.microsoft.com/office/powerpoint/2010/main" val="1423469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139769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2284</Words>
  <Application>Microsoft Office PowerPoint</Application>
  <PresentationFormat>Widescreen</PresentationFormat>
  <Paragraphs>35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PowerPoint Presentation</vt:lpstr>
      <vt:lpstr>INTRODUCTION</vt:lpstr>
      <vt:lpstr>PowerPoint Presentation</vt:lpstr>
      <vt:lpstr>BACKGROUND </vt:lpstr>
      <vt:lpstr>PowerPoint Presentation</vt:lpstr>
      <vt:lpstr>SIGNIFICANCE OF THE STUDY </vt:lpstr>
      <vt:lpstr>PowerPoint Presentation</vt:lpstr>
      <vt:lpstr>RESEARCH QUESTIONS</vt:lpstr>
      <vt:lpstr>LITERATURE REVIEW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dc:creator>
  <cp:lastModifiedBy>Marc</cp:lastModifiedBy>
  <cp:revision>7</cp:revision>
  <dcterms:created xsi:type="dcterms:W3CDTF">2025-06-24T01:57:05Z</dcterms:created>
  <dcterms:modified xsi:type="dcterms:W3CDTF">2025-07-07T05:02:31Z</dcterms:modified>
</cp:coreProperties>
</file>